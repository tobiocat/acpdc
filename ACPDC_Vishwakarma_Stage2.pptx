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9"/>
    <p:sldId id="269" r:id="rId20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663440"/>
            <a:ext cx="1188720" cy="406908"/>
          </a:xfrm>
          <a:prstGeom prst="rect">
            <a:avLst/>
          </a:prstGeom>
        </p:spPr>
      </p:pic>
      <p:pic>
        <p:nvPicPr>
          <p:cNvPr id="3" name="Image 1" descr="/home/claude/log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709160"/>
            <a:ext cx="73152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collar_principle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signal_chain.png"/><Relationship Id="rId11" Type="http://schemas.openxmlformats.org/officeDocument/2006/relationships/image" Target="../media/orchard_networ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Application 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26080" y="91440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AWARDS 2026-27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463040"/>
            <a:ext cx="3657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74320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Vishwakarma Application ID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Canopy Pest Detection Collar (ACPDC)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micro-acoustic bio-scouting array for early detection of sub-surface tree infestation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Submission  |  Track: Technological Innovation for Rural Sustainability  |  Team ID: [ADD]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 MITIGATED (EST.)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CHEMICAL EXPOSURE (EST.)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≤48 h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DETECTION WINDOW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417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MONITORING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9202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304288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ACPDC – clamp-on acoustic collar for boring-pest detection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[ADD TEAM ID]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Technological Innovation for Rural Sustainability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innovation: a piezo collar that hears larval boring at the edge and sends LoRa alerts per tree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1993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beneficiaries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304288"/>
            <a:ext cx="3886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larvae (Red Palm Weevil, Emerald Ash Borer) feed inside the trunk, invisible to drones, satellites and visual scouting until canopy collapse.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reactive, calendar-based blanket spraying that pollutes water, kills beneficial insects, raises cost and breeds resistance.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commercial orchard owners, cooperative unions, forestry bureaus and biosecurity agencies.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4480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Stage 1 proposal estimates; to be validated in Stage 3 field trials.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Journey: Before vs After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reactive scouting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3444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Larvae feed inside the trunk – no visible 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801368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19659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Weeks later canopy chlorosis / wilt appears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2532888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69748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Manual checks + blanket spraying of the whole orchard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3264408"/>
            <a:ext cx="0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" y="34290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342900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Tree already lost; runoff, mortality, resistance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160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only after vascular collapse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ACPDC autonomous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123444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Collar listens on a duty-cycled schedule for larval boring impulses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801368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19659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Edge classifier flags sustained activity (≤48 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532888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26974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269748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LoRa alert with tree ID reaches the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264408"/>
            <a:ext cx="0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09160" y="34290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3429000"/>
            <a:ext cx="4023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Targeted micro-injection on the flagged tree only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160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less chemical exposure; 25–30% less crop loss (est.)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Specs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+ Al plate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 + analog AFE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9476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MCU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ADC, DSP, classifier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P2P 865 MHz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95160" y="1234440"/>
            <a:ext cx="182880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914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914400"/>
            <a:ext cx="1508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1645920"/>
            <a:ext cx="827532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1645920"/>
            <a:ext cx="8275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6 V 1 W solar → CN3791 charger (NTC + protection) → NCR18650B → 3.3 V low-Iq regulator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57400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794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hardware /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Sensing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Bench-test A 1–14 kHz vs B 20–60 kHz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PZT-5H disc [P/N TBD], rigid Al-6061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front-end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dB gain; LPF set per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TLV9062S (shutdown); TLV9002S if low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/ DSP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kS/s (A) vs 200 kS/s (B), 12-bit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STM32WLE5 (Cortex-M4) on Seeed Wio-E5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≤100 µA avg via scheduled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CN3791 + NCR18650B + 6 V 1 W 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point-to-point, 865–867 MHz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Wio-E5 node → Wio-E5 Mini + laptop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≤48 h from onset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 + N-of-M burst voting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 (to be tested), &lt;350 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 housing, SS304 band, EPDM liner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Design &amp; Mechanical Specs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+ ASA lid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389888"/>
            <a:ext cx="37490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PCB (AFE + MCU)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865376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865376"/>
            <a:ext cx="37490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housing, IP67 gasket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4086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EPDM mounts (housing/clamp only)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81635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816352"/>
            <a:ext cx="37490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SS304 band + spring tensioner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Al-6061 plate + PZT: rigid contact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794760"/>
            <a:ext cx="37490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trunk (Ø15–60 cm)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43434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stack (exploded, side view). Replace with SolidWorks render.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914400"/>
            <a:ext cx="4343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9875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1298448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Housing: ASA (UV-stable) over PETG/PC; light grey limits solar heating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path: Al 6061-T6 plate in rigid, direct trunk contact; no rubber between plate and bark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Clamp: SS304 band + spring tensioner (no girdling); EPDM only isolates housing and clamp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25603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2633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/ stress plan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294436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cases: clamp preload, wind drag, 70 °C thermal soak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calc: wind drag ≈ 7 N at 40 m/s (Cd 1.2, A 0.006 m²); mount FoS target ≥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43434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389120" y="3840480"/>
            <a:ext cx="4343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SolidWorks isometric + exploded render, FEA stress plot, mesh stats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Signal Chain &amp; BOM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PZT-5H disc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Ø12 mm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91640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10512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10512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TLV9062S ×31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90672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9544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9544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 LPF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band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9704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08576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8576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+ DMA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200 kS/s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88736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07608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07608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IIR band-pass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N-of-M vote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87768" y="1188720"/>
            <a:ext cx="118872" cy="0"/>
          </a:xfrm>
          <a:prstGeom prst="line">
            <a:avLst/>
          </a:prstGeom>
          <a:noFill/>
          <a:ln w="19050">
            <a:solidFill>
              <a:srgbClr val="0A87C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91440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A87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P2P TX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865–867 MHz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48640"/>
                <a:gridCol w="1371600"/>
                <a:gridCol w="868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/ 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node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Seeed Wio-E5 bare module (STM32WLE5JC)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Imported, 10–14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dev + receiver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Seeed Wio-E5 Mini dev 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Imported, 10–14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PZT-5H disc Ø12 mm [ADD mfr P/N]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front-end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TLV9062S ×6 + FR4 2-layer PCB ×5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7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 &amp;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CN3791 module, NTC, Li-ion protection, 3.3 V 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3–5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&amp; solar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NCR18650B (genuine) + 6 V 1 W 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 gasketed enclosure + printed bracket (quote)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5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Clamp &amp; coupling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Al-6061 plate, SS304 band, EPDM liner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7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Connectors, passives, wire, coating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3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(3 nodes + receiver)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₹20,382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11480" y="44622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Signal-chain block diagram only: ADD KiCad schematic (values, pins, power tree). INR estimates; LoRaWAN gateway deferred.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Maker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4231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2423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lab photo of team modelling / soldering / assembling, ID badges visible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4231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2423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joint lab review photo with faculty mentor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987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Work-in-progress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42316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337560" y="1325880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CAD feature tree with unsuppressed sketches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984248"/>
            <a:ext cx="242316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337560" y="1984248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KiCad layout + DRC 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642616"/>
            <a:ext cx="242316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337560" y="2642616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FEA convergence plot + mesh statistics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91440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987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repository linkage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46888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12648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Google Drive / GitHub link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9659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files: .STEP, .SLDPRT, .kicad_sch, firmware source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timestamps audited in Stage 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 only, no embedded video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832104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11480" y="4114800"/>
            <a:ext cx="8321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Institutional sign-off – faculty mentor name, department, institution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Hazard Mitigation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2423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fail-safe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/ rain / vehicle noise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alarm, needless 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Band-pass + N-of-M burst voting; broadband-burst rejection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clamp / detached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coupling self-test; alert on 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under-voltage / cold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Brown-out, cell damage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Protection-board UV cutoff; NTC charge inhibit &lt;0 °C; low-battery beacon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link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never arrives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store-and-forward; ack + retry; 24 h heartbeat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hang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watchdog reset + OTA rollback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1440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80760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fail-safes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29844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gasketed enclosure + vent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fuse + reverse-polarity guard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Non-girdling spring tensioner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edges, no exposed live parts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2606040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80760" y="2679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(design targets)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2990088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 (IP67, tested on final unit)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62133-2 / IS 16046, UN 38.3 (Li-ion)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 ETA for 865–867 MHz LoRa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61000-4-2 ESD, CISPR 32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G154 UV (ASA housing)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4-Month Fabrication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2026: Fabricate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test on wood: 48 vs 200 kS/s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test: rigid vs rubber contact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KiCad schematic + CAD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2026: Assemble &amp; bring-up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PCBs; populate and test AFE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bare-module current (no devkit LEDs/USB)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ADC-DMA capture + band-pass firmware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2027: Integrate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P2P link to laptop receiver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Adaptive-threshold classifier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MVP; bench test on wood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8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2027: Validate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298448"/>
            <a:ext cx="1737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3-node orchard trial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false alarms; tune clamp + power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demo prep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832104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749040"/>
            <a:ext cx="8321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commitment: a working 3-node prototype with laptop receiver demonstrating live acoustic detection → LoRa alert → dashboard, with bench and orchard detection / false-alarm logs.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&amp; Risks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87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Unproven band + ambient noise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RPW study found features near 2–14 kHz; 20–60 kHz may miss signal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rain and traffic set the false-alarm rate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987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Coupling and attenuation in wood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29844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Species, bark, moisture and clamp force change sensitivity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energy fades quickly along the trunk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in the sensing path weakens the signal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70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Power vs continuous operation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815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 draws ~538 µA per channel (~1.1 mA per IC)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≤100 µA needs scheduled capture + shutdown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770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Ground truth and permits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0815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quarantine pests are tightly regulated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labelled larval recordings to train the classifier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Solutions &amp; Risk Mitigation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154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/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&amp;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Bench-compare 1–14 kHz @48 kS/s vs 20–60 kHz @200 kS/s; N-of-M voting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Dual-band firmware, OTA-selectable; TinyML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Al-plate contact; rubber only on housing/clamp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gel; per-tree baseline; coupling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on main trunk; node density by tree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collar on limbs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capture; TLV9062S shutdown between recordings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TLV9002S (~60 µA/ch) if low band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permits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 exciter on wood + public recordings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with a state research station for live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antenna; ack + retry; flash store-and-forward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LoRaWAN gateway for scale-up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4480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SNR and false-alarm results will be reported at Stage 3.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ACPDC Stage 1 Project Proposal, Vishwakarma Award submission (Sept 2026)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STM32WLE5 datasheet; Seeed Wio-E5 module documentation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www.st.com, www.seeedstudio.com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 and TLV9002 datasheets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www.ti.com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USDA-ARS red palm weevil acoustic detection study (2–14 kHz features)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www.ars.usda.gov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432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 (IP codes); IEC 62133-2 (Li-ion cells)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webstore.iec.ch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00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in this deck are original illustrations; no third-party images used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3–5 peer-reviewed papers on acoustic detection of boring larvae (RPW / EAB) supporting the band chosen after bench testing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the Collar Works (1/2): Hearing the Lar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Collar Works (1/2): Hearing the Larva</a:t>
            </a:r>
            <a:endParaRPr lang="en-US" sz="2600" dirty="0"/>
          </a:p>
        </p:txBody>
      </p:sp>
      <p:pic>
        <p:nvPicPr>
          <p:cNvPr id="3" name="Picture 3" descr="Cutaway of a tree trunk showing a boring larva, vibration waves, and the ACPDC collar with Al plate, PZT disc, housing and solar pane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868680"/>
            <a:ext cx="4206240" cy="3084271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sp>
        <p:nvSpPr>
          <p:cNvPr id="4" name="Caption 4"/>
          <p:cNvSpPr txBox="1"/>
          <p:nvPr/>
        </p:nvSpPr>
        <p:spPr>
          <a:xfrm>
            <a:off x="41148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of the sensing principle (not to scale)</a:t>
            </a:r>
          </a:p>
        </p:txBody>
      </p:sp>
      <p:sp>
        <p:nvSpPr>
          <p:cNvPr id="5" name="Step card 5"/>
          <p:cNvSpPr/>
          <p:nvPr/>
        </p:nvSpPr>
        <p:spPr>
          <a:xfrm>
            <a:off x="4800600" y="868680"/>
            <a:ext cx="3931920" cy="102412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tep badge 6"/>
          <p:cNvSpPr/>
          <p:nvPr/>
        </p:nvSpPr>
        <p:spPr>
          <a:xfrm>
            <a:off x="4910328" y="978408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tep number 7"/>
          <p:cNvSpPr txBox="1"/>
          <p:nvPr/>
        </p:nvSpPr>
        <p:spPr>
          <a:xfrm>
            <a:off x="4910328" y="978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Step title 8"/>
          <p:cNvSpPr txBox="1"/>
          <p:nvPr/>
        </p:nvSpPr>
        <p:spPr>
          <a:xfrm>
            <a:off x="5367528" y="9601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 boring makes vibration</a:t>
            </a:r>
          </a:p>
        </p:txBody>
      </p:sp>
      <p:sp>
        <p:nvSpPr>
          <p:cNvPr id="9" name="Step text 9"/>
          <p:cNvSpPr txBox="1"/>
          <p:nvPr/>
        </p:nvSpPr>
        <p:spPr>
          <a:xfrm>
            <a:off x="5367528" y="1325880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larvae chew inside the trunk, producing short impulsive clicks that travel through the wood.</a:t>
            </a:r>
          </a:p>
        </p:txBody>
      </p:sp>
      <p:sp>
        <p:nvSpPr>
          <p:cNvPr id="10" name="Step card 10"/>
          <p:cNvSpPr/>
          <p:nvPr/>
        </p:nvSpPr>
        <p:spPr>
          <a:xfrm>
            <a:off x="4800600" y="1984248"/>
            <a:ext cx="3931920" cy="102412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tep badge 11"/>
          <p:cNvSpPr/>
          <p:nvPr/>
        </p:nvSpPr>
        <p:spPr>
          <a:xfrm>
            <a:off x="4910328" y="2093976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Step number 12"/>
          <p:cNvSpPr txBox="1"/>
          <p:nvPr/>
        </p:nvSpPr>
        <p:spPr>
          <a:xfrm>
            <a:off x="4910328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3" name="Step title 13"/>
          <p:cNvSpPr txBox="1"/>
          <p:nvPr/>
        </p:nvSpPr>
        <p:spPr>
          <a:xfrm>
            <a:off x="5367528" y="207568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contact picks it up</a:t>
            </a:r>
          </a:p>
        </p:txBody>
      </p:sp>
      <p:sp>
        <p:nvSpPr>
          <p:cNvPr id="14" name="Step text 14"/>
          <p:cNvSpPr txBox="1"/>
          <p:nvPr/>
        </p:nvSpPr>
        <p:spPr>
          <a:xfrm>
            <a:off x="5367528" y="2441448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Al-6061 plate presses the PZT disc onto the trunk; vibration becomes a tiny voltage. No rubber in this path.</a:t>
            </a:r>
          </a:p>
        </p:txBody>
      </p:sp>
      <p:sp>
        <p:nvSpPr>
          <p:cNvPr id="15" name="Step card 15"/>
          <p:cNvSpPr/>
          <p:nvPr/>
        </p:nvSpPr>
        <p:spPr>
          <a:xfrm>
            <a:off x="4800600" y="3099816"/>
            <a:ext cx="3931920" cy="102412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tep badge 16"/>
          <p:cNvSpPr/>
          <p:nvPr/>
        </p:nvSpPr>
        <p:spPr>
          <a:xfrm>
            <a:off x="4910328" y="3209544"/>
            <a:ext cx="329184" cy="32918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Step number 17"/>
          <p:cNvSpPr txBox="1"/>
          <p:nvPr/>
        </p:nvSpPr>
        <p:spPr>
          <a:xfrm>
            <a:off x="491032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8" name="Step title 18"/>
          <p:cNvSpPr txBox="1"/>
          <p:nvPr/>
        </p:nvSpPr>
        <p:spPr>
          <a:xfrm>
            <a:off x="5367528" y="319125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conditions the signal</a:t>
            </a:r>
          </a:p>
        </p:txBody>
      </p:sp>
      <p:sp>
        <p:nvSpPr>
          <p:cNvPr id="19" name="Step text 19"/>
          <p:cNvSpPr txBox="1"/>
          <p:nvPr/>
        </p:nvSpPr>
        <p:spPr>
          <a:xfrm>
            <a:off x="5367528" y="3557016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TLV9062S adds ~30 dB gain; a per-band low-pass filter feeds the ADC. Band is set after bench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the Collar Works (2/2): From Sound to Al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Collar Works (2/2): From Sound to Alert</a:t>
            </a:r>
            <a:endParaRPr lang="en-US" sz="2600" dirty="0"/>
          </a:p>
        </p:txBody>
      </p:sp>
      <p:pic>
        <p:nvPicPr>
          <p:cNvPr id="3" name="Picture 3" descr="Three stacked waveforms: raw noisy sensor signal, band-pass filtered signal showing repeated clicks, and burst detector with threshold and N-of-M vot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841248"/>
            <a:ext cx="4023360" cy="2146097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pic>
        <p:nvPicPr>
          <p:cNvPr id="4" name="Picture 4" descr="Top view of an orchard where collars on some trees send LoRa links to a receiver and dashboard; one infested tree is flagged in re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841248"/>
            <a:ext cx="4023360" cy="2146097"/>
          </a:xfrm>
          <a:prstGeom prst="roundRect">
            <a:avLst>
              <a:gd name="adj" fmla="val 2500"/>
            </a:avLst>
          </a:prstGeom>
          <a:ln w="12700">
            <a:solidFill>
              <a:srgbClr val="94A3B8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411480" y="29992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path inside the collar (synthetic, illustrative)</a:t>
            </a:r>
          </a:p>
        </p:txBody>
      </p:sp>
      <p:sp>
        <p:nvSpPr>
          <p:cNvPr id="6" name="Caption 6"/>
          <p:cNvSpPr txBox="1"/>
          <p:nvPr/>
        </p:nvSpPr>
        <p:spPr>
          <a:xfrm>
            <a:off x="4709160" y="29992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path from collar to dashboard (illustrative)</a:t>
            </a:r>
          </a:p>
        </p:txBody>
      </p:sp>
      <p:sp>
        <p:nvSpPr>
          <p:cNvPr id="7" name="Step card 7"/>
          <p:cNvSpPr/>
          <p:nvPr/>
        </p:nvSpPr>
        <p:spPr>
          <a:xfrm>
            <a:off x="41148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tep badge 8"/>
          <p:cNvSpPr/>
          <p:nvPr/>
        </p:nvSpPr>
        <p:spPr>
          <a:xfrm>
            <a:off x="50292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tep number 9"/>
          <p:cNvSpPr txBox="1"/>
          <p:nvPr/>
        </p:nvSpPr>
        <p:spPr>
          <a:xfrm>
            <a:off x="50292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" name="Step title 10"/>
          <p:cNvSpPr txBox="1"/>
          <p:nvPr/>
        </p:nvSpPr>
        <p:spPr>
          <a:xfrm>
            <a:off x="86868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&amp; capture</a:t>
            </a:r>
          </a:p>
        </p:txBody>
      </p:sp>
      <p:sp>
        <p:nvSpPr>
          <p:cNvPr id="11" name="Step text 11"/>
          <p:cNvSpPr txBox="1"/>
          <p:nvPr/>
        </p:nvSpPr>
        <p:spPr>
          <a:xfrm>
            <a:off x="50292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Duty-cycled: MCU wakes, powers the AFE and records a short burst.</a:t>
            </a:r>
          </a:p>
        </p:txBody>
      </p:sp>
      <p:sp>
        <p:nvSpPr>
          <p:cNvPr id="12" name="Step card 12"/>
          <p:cNvSpPr/>
          <p:nvPr/>
        </p:nvSpPr>
        <p:spPr>
          <a:xfrm>
            <a:off x="252603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tep badge 13"/>
          <p:cNvSpPr/>
          <p:nvPr/>
        </p:nvSpPr>
        <p:spPr>
          <a:xfrm>
            <a:off x="261747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Step number 14"/>
          <p:cNvSpPr txBox="1"/>
          <p:nvPr/>
        </p:nvSpPr>
        <p:spPr>
          <a:xfrm>
            <a:off x="261747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" name="Step title 15"/>
          <p:cNvSpPr txBox="1"/>
          <p:nvPr/>
        </p:nvSpPr>
        <p:spPr>
          <a:xfrm>
            <a:off x="298323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vote</a:t>
            </a:r>
          </a:p>
        </p:txBody>
      </p:sp>
      <p:sp>
        <p:nvSpPr>
          <p:cNvPr id="16" name="Step text 16"/>
          <p:cNvSpPr txBox="1"/>
          <p:nvPr/>
        </p:nvSpPr>
        <p:spPr>
          <a:xfrm>
            <a:off x="261747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plus adaptive threshold and N-of-M voting reject wind and rain.</a:t>
            </a:r>
          </a:p>
        </p:txBody>
      </p:sp>
      <p:sp>
        <p:nvSpPr>
          <p:cNvPr id="17" name="Step card 17"/>
          <p:cNvSpPr/>
          <p:nvPr/>
        </p:nvSpPr>
        <p:spPr>
          <a:xfrm>
            <a:off x="464058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tep badge 18"/>
          <p:cNvSpPr/>
          <p:nvPr/>
        </p:nvSpPr>
        <p:spPr>
          <a:xfrm>
            <a:off x="473202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Step number 19"/>
          <p:cNvSpPr txBox="1"/>
          <p:nvPr/>
        </p:nvSpPr>
        <p:spPr>
          <a:xfrm>
            <a:off x="473202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0" name="Step title 20"/>
          <p:cNvSpPr txBox="1"/>
          <p:nvPr/>
        </p:nvSpPr>
        <p:spPr>
          <a:xfrm>
            <a:off x="509778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LoRa alert</a:t>
            </a:r>
          </a:p>
        </p:txBody>
      </p:sp>
      <p:sp>
        <p:nvSpPr>
          <p:cNvPr id="21" name="Step text 21"/>
          <p:cNvSpPr txBox="1"/>
          <p:nvPr/>
        </p:nvSpPr>
        <p:spPr>
          <a:xfrm>
            <a:off x="473202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ID goes out over LoRa P2P with ack + retry; target alert ≤48 h.</a:t>
            </a:r>
          </a:p>
        </p:txBody>
      </p:sp>
      <p:sp>
        <p:nvSpPr>
          <p:cNvPr id="22" name="Step card 22"/>
          <p:cNvSpPr/>
          <p:nvPr/>
        </p:nvSpPr>
        <p:spPr>
          <a:xfrm>
            <a:off x="6755130" y="3273552"/>
            <a:ext cx="1977390" cy="91440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tep badge 23"/>
          <p:cNvSpPr/>
          <p:nvPr/>
        </p:nvSpPr>
        <p:spPr>
          <a:xfrm>
            <a:off x="6846570" y="3355848"/>
            <a:ext cx="274320" cy="274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Step number 24"/>
          <p:cNvSpPr txBox="1"/>
          <p:nvPr/>
        </p:nvSpPr>
        <p:spPr>
          <a:xfrm>
            <a:off x="684657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5" name="Step title 25"/>
          <p:cNvSpPr txBox="1"/>
          <p:nvPr/>
        </p:nvSpPr>
        <p:spPr>
          <a:xfrm>
            <a:off x="7212330" y="3337560"/>
            <a:ext cx="1447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that tree</a:t>
            </a:r>
          </a:p>
        </p:txBody>
      </p:sp>
      <p:sp>
        <p:nvSpPr>
          <p:cNvPr id="26" name="Step text 26"/>
          <p:cNvSpPr txBox="1"/>
          <p:nvPr/>
        </p:nvSpPr>
        <p:spPr>
          <a:xfrm>
            <a:off x="6846570" y="3675888"/>
            <a:ext cx="1794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0" i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flags the tree, so spraying is targeted, not blanket.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ACPDC - Vishwakarma Awards 2026-27 Stage 2</dc:title>
  <dc:subject>PptxGenJS Presentation</dc:subject>
  <dc:creator>PptxGenJS</dc:creator>
  <cp:lastModifiedBy>PptxGenJS</cp:lastModifiedBy>
  <cp:revision>1</cp:revision>
  <dcterms:created xsi:type="dcterms:W3CDTF">2026-10-24T18:08:43Z</dcterms:created>
  <dcterms:modified xsi:type="dcterms:W3CDTF">2026-10-24T18:08:43Z</dcterms:modified>
</cp:coreProperties>
</file>